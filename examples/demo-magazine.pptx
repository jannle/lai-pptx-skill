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示例数据</c:v>
                </c:pt>
              </c:strCache>
            </c:strRef>
          </c:tx>
          <c:spPr>
            <a:solidFill>
              <a:srgbClr val="0A0A0B"/>
            </a:solidFill>
            <a:effectLst/>
          </c:spPr>
          <c:invertIfNegative val="0"/>
          <c:dLbls>
            <c:numFmt formatCode="0.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0A0B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第一季度</c:v>
                  </c:pt>
                  <c:pt idx="1">
                    <c:v>第二季度</c:v>
                  </c:pt>
                  <c:pt idx="2">
                    <c:v>第三季度</c:v>
                  </c:pt>
                  <c:pt idx="3">
                    <c:v>第四季度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38</c:v>
                </c:pt>
                <c:pt idx="2">
                  <c:v>45</c:v>
                </c:pt>
                <c:pt idx="3">
                  <c:v>61</c:v>
                </c:pt>
              </c:numCache>
            </c:numRef>
          </c:val>
        </c:ser>
        <c:dLbls>
          <c:numFmt formatCode="0.##" sourceLinked="0"/>
          <c:txPr>
            <a:bodyPr/>
            <a:lstStyle/>
            <a:p>
              <a:pPr>
                <a:defRPr b="0" i="0" strike="noStrike" sz="1200" u="none">
                  <a:solidFill>
                    <a:srgbClr val="0A0A0B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8E5DE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A0A0B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5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8E5DE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615D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本页仅演示原生图表与内嵌工作簿。数据为虚构。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-text-1"/>
          <p:cNvSpPr/>
          <p:nvPr/>
        </p:nvSpPr>
        <p:spPr>
          <a:xfrm>
            <a:off x="640080" y="932688"/>
            <a:ext cx="1091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1EFEA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NATIVE POWERPOINT</a:t>
            </a:r>
            <a:endParaRPr lang="en-US" sz="1600" dirty="0"/>
          </a:p>
        </p:txBody>
      </p:sp>
      <p:sp>
        <p:nvSpPr>
          <p:cNvPr id="3" name="editable-text-2"/>
          <p:cNvSpPr/>
          <p:nvPr/>
        </p:nvSpPr>
        <p:spPr>
          <a:xfrm>
            <a:off x="640080" y="1874520"/>
            <a:ext cx="1054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300" dirty="0">
                <a:solidFill>
                  <a:srgbClr val="F1EFE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可编辑演示文稿</a:t>
            </a:r>
            <a:endParaRPr lang="en-US" sz="5300" dirty="0"/>
          </a:p>
        </p:txBody>
      </p:sp>
      <p:sp>
        <p:nvSpPr>
          <p:cNvPr id="4" name="editable-text-3"/>
          <p:cNvSpPr/>
          <p:nvPr/>
        </p:nvSpPr>
        <p:spPr>
          <a:xfrm>
            <a:off x="640080" y="4297680"/>
            <a:ext cx="99974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1EF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文字、图表、表格与流程均为原生对象</a:t>
            </a:r>
            <a:endParaRPr lang="en-US" sz="2300" dirty="0"/>
          </a:p>
        </p:txBody>
      </p:sp>
      <p:sp>
        <p:nvSpPr>
          <p:cNvPr id="5" name="editable-rule-4"/>
          <p:cNvSpPr/>
          <p:nvPr/>
        </p:nvSpPr>
        <p:spPr>
          <a:xfrm>
            <a:off x="640080" y="5989320"/>
            <a:ext cx="10911840" cy="0"/>
          </a:xfrm>
          <a:prstGeom prst="line">
            <a:avLst/>
          </a:prstGeom>
          <a:noFill/>
          <a:ln w="8890">
            <a:solidFill>
              <a:srgbClr val="F1EFEA"/>
            </a:solidFill>
            <a:prstDash val="solid"/>
          </a:ln>
        </p:spPr>
      </p:sp>
      <p:sp>
        <p:nvSpPr>
          <p:cNvPr id="6" name="editable-text-5"/>
          <p:cNvSpPr/>
          <p:nvPr/>
        </p:nvSpPr>
        <p:spPr>
          <a:xfrm>
            <a:off x="640080" y="6419088"/>
            <a:ext cx="995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EF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演示数据，仅用于功能测试</a:t>
            </a:r>
            <a:endParaRPr lang="en-US" sz="900" dirty="0"/>
          </a:p>
        </p:txBody>
      </p:sp>
      <p:sp>
        <p:nvSpPr>
          <p:cNvPr id="7" name="editable-text-6"/>
          <p:cNvSpPr/>
          <p:nvPr/>
        </p:nvSpPr>
        <p:spPr>
          <a:xfrm>
            <a:off x="10820400" y="641908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1EF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-text-7"/>
          <p:cNvSpPr/>
          <p:nvPr/>
        </p:nvSpPr>
        <p:spPr>
          <a:xfrm>
            <a:off x="640080" y="512064"/>
            <a:ext cx="1091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0A0A0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示例内容</a:t>
            </a:r>
            <a:endParaRPr lang="en-US" sz="3400" dirty="0"/>
          </a:p>
        </p:txBody>
      </p:sp>
      <p:sp>
        <p:nvSpPr>
          <p:cNvPr id="3" name="editable-rule-8"/>
          <p:cNvSpPr/>
          <p:nvPr/>
        </p:nvSpPr>
        <p:spPr>
          <a:xfrm>
            <a:off x="640080" y="1819656"/>
            <a:ext cx="10911840" cy="0"/>
          </a:xfrm>
          <a:prstGeom prst="line">
            <a:avLst/>
          </a:prstGeom>
          <a:noFill/>
          <a:ln w="8890">
            <a:solidFill>
              <a:srgbClr val="E8E5DE"/>
            </a:solidFill>
            <a:prstDash val="solid"/>
          </a:ln>
        </p:spPr>
      </p:sp>
      <p:sp>
        <p:nvSpPr>
          <p:cNvPr id="4" name="editable-text-9"/>
          <p:cNvSpPr/>
          <p:nvPr/>
        </p:nvSpPr>
        <p:spPr>
          <a:xfrm>
            <a:off x="640080" y="20299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A0A0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01</a:t>
            </a:r>
            <a:endParaRPr lang="en-US" sz="1900" dirty="0"/>
          </a:p>
        </p:txBody>
      </p:sp>
      <p:sp>
        <p:nvSpPr>
          <p:cNvPr id="5" name="editable-text-10"/>
          <p:cNvSpPr/>
          <p:nvPr/>
        </p:nvSpPr>
        <p:spPr>
          <a:xfrm>
            <a:off x="1371600" y="2029968"/>
            <a:ext cx="101803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A0A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关键指标与对比</a:t>
            </a:r>
            <a:endParaRPr lang="en-US" sz="2500" dirty="0"/>
          </a:p>
        </p:txBody>
      </p:sp>
      <p:sp>
        <p:nvSpPr>
          <p:cNvPr id="6" name="editable-rule-11"/>
          <p:cNvSpPr/>
          <p:nvPr/>
        </p:nvSpPr>
        <p:spPr>
          <a:xfrm>
            <a:off x="1371600" y="3169920"/>
            <a:ext cx="10180320" cy="0"/>
          </a:xfrm>
          <a:prstGeom prst="line">
            <a:avLst/>
          </a:prstGeom>
          <a:noFill/>
          <a:ln w="8890">
            <a:solidFill>
              <a:srgbClr val="E8E5DE"/>
            </a:solidFill>
            <a:prstDash val="solid"/>
          </a:ln>
        </p:spPr>
      </p:sp>
      <p:sp>
        <p:nvSpPr>
          <p:cNvPr id="7" name="editable-text-12"/>
          <p:cNvSpPr/>
          <p:nvPr/>
        </p:nvSpPr>
        <p:spPr>
          <a:xfrm>
            <a:off x="640080" y="33345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A0A0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02</a:t>
            </a:r>
            <a:endParaRPr lang="en-US" sz="1900" dirty="0"/>
          </a:p>
        </p:txBody>
      </p:sp>
      <p:sp>
        <p:nvSpPr>
          <p:cNvPr id="8" name="editable-text-13"/>
          <p:cNvSpPr/>
          <p:nvPr/>
        </p:nvSpPr>
        <p:spPr>
          <a:xfrm>
            <a:off x="1371600" y="3334512"/>
            <a:ext cx="101803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A0A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流程与数据</a:t>
            </a:r>
            <a:endParaRPr lang="en-US" sz="2500" dirty="0"/>
          </a:p>
        </p:txBody>
      </p:sp>
      <p:sp>
        <p:nvSpPr>
          <p:cNvPr id="9" name="editable-rule-14"/>
          <p:cNvSpPr/>
          <p:nvPr/>
        </p:nvSpPr>
        <p:spPr>
          <a:xfrm>
            <a:off x="1371600" y="4474464"/>
            <a:ext cx="10180320" cy="0"/>
          </a:xfrm>
          <a:prstGeom prst="line">
            <a:avLst/>
          </a:prstGeom>
          <a:noFill/>
          <a:ln w="8890">
            <a:solidFill>
              <a:srgbClr val="E8E5DE"/>
            </a:solidFill>
            <a:prstDash val="solid"/>
          </a:ln>
        </p:spPr>
      </p:sp>
      <p:sp>
        <p:nvSpPr>
          <p:cNvPr id="10" name="editable-text-15"/>
          <p:cNvSpPr/>
          <p:nvPr/>
        </p:nvSpPr>
        <p:spPr>
          <a:xfrm>
            <a:off x="640080" y="46390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A0A0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editable-text-16"/>
          <p:cNvSpPr/>
          <p:nvPr/>
        </p:nvSpPr>
        <p:spPr>
          <a:xfrm>
            <a:off x="1371600" y="4639056"/>
            <a:ext cx="101803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A0A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原生表格与交付</a:t>
            </a:r>
            <a:endParaRPr lang="en-US" sz="2500" dirty="0"/>
          </a:p>
        </p:txBody>
      </p:sp>
      <p:sp>
        <p:nvSpPr>
          <p:cNvPr id="12" name="editable-text-17"/>
          <p:cNvSpPr/>
          <p:nvPr/>
        </p:nvSpPr>
        <p:spPr>
          <a:xfrm>
            <a:off x="640080" y="6419088"/>
            <a:ext cx="995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61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演示数据，仅用于功能测试</a:t>
            </a:r>
            <a:endParaRPr lang="en-US" sz="900" dirty="0"/>
          </a:p>
        </p:txBody>
      </p:sp>
      <p:sp>
        <p:nvSpPr>
          <p:cNvPr id="13" name="editable-text-18"/>
          <p:cNvSpPr/>
          <p:nvPr/>
        </p:nvSpPr>
        <p:spPr>
          <a:xfrm>
            <a:off x="10820400" y="641908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61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-text-19"/>
          <p:cNvSpPr/>
          <p:nvPr/>
        </p:nvSpPr>
        <p:spPr>
          <a:xfrm>
            <a:off x="640080" y="512064"/>
            <a:ext cx="1091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0A0A0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示例指标</a:t>
            </a:r>
            <a:endParaRPr lang="en-US" sz="3400" dirty="0"/>
          </a:p>
        </p:txBody>
      </p:sp>
      <p:sp>
        <p:nvSpPr>
          <p:cNvPr id="3" name="editable-text-20"/>
          <p:cNvSpPr/>
          <p:nvPr/>
        </p:nvSpPr>
        <p:spPr>
          <a:xfrm>
            <a:off x="640080" y="1307592"/>
            <a:ext cx="10911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461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以下数值为虚构测试数据</a:t>
            </a:r>
            <a:endParaRPr lang="en-US" sz="1600" dirty="0"/>
          </a:p>
        </p:txBody>
      </p:sp>
      <p:sp>
        <p:nvSpPr>
          <p:cNvPr id="4" name="editable-rule-21"/>
          <p:cNvSpPr/>
          <p:nvPr/>
        </p:nvSpPr>
        <p:spPr>
          <a:xfrm>
            <a:off x="640080" y="1819656"/>
            <a:ext cx="10911840" cy="0"/>
          </a:xfrm>
          <a:prstGeom prst="line">
            <a:avLst/>
          </a:prstGeom>
          <a:noFill/>
          <a:ln w="8890">
            <a:solidFill>
              <a:srgbClr val="E8E5DE"/>
            </a:solidFill>
            <a:prstDash val="solid"/>
          </a:ln>
        </p:spPr>
      </p:sp>
      <p:sp>
        <p:nvSpPr>
          <p:cNvPr id="5" name="editable-text-22"/>
          <p:cNvSpPr/>
          <p:nvPr/>
        </p:nvSpPr>
        <p:spPr>
          <a:xfrm>
            <a:off x="640080" y="2286000"/>
            <a:ext cx="330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0A0A0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32%</a:t>
            </a:r>
            <a:endParaRPr lang="en-US" sz="6400" dirty="0"/>
          </a:p>
        </p:txBody>
      </p:sp>
      <p:sp>
        <p:nvSpPr>
          <p:cNvPr id="6" name="editable-text-23"/>
          <p:cNvSpPr/>
          <p:nvPr/>
        </p:nvSpPr>
        <p:spPr>
          <a:xfrm>
            <a:off x="640080" y="3630168"/>
            <a:ext cx="330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A0A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示例增长率</a:t>
            </a:r>
            <a:endParaRPr lang="en-US" sz="2600" dirty="0"/>
          </a:p>
        </p:txBody>
      </p:sp>
      <p:sp>
        <p:nvSpPr>
          <p:cNvPr id="7" name="editable-text-24"/>
          <p:cNvSpPr/>
          <p:nvPr/>
        </p:nvSpPr>
        <p:spPr>
          <a:xfrm>
            <a:off x="640080" y="4526280"/>
            <a:ext cx="330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6461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用于验证大数字排版</a:t>
            </a:r>
            <a:endParaRPr lang="en-US" sz="1900" dirty="0"/>
          </a:p>
        </p:txBody>
      </p:sp>
      <p:sp>
        <p:nvSpPr>
          <p:cNvPr id="8" name="editable-text-25"/>
          <p:cNvSpPr/>
          <p:nvPr/>
        </p:nvSpPr>
        <p:spPr>
          <a:xfrm>
            <a:off x="4445000" y="2286000"/>
            <a:ext cx="330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0A0A0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18</a:t>
            </a:r>
            <a:endParaRPr lang="en-US" sz="6400" dirty="0"/>
          </a:p>
        </p:txBody>
      </p:sp>
      <p:sp>
        <p:nvSpPr>
          <p:cNvPr id="9" name="editable-text-26"/>
          <p:cNvSpPr/>
          <p:nvPr/>
        </p:nvSpPr>
        <p:spPr>
          <a:xfrm>
            <a:off x="4445000" y="3630168"/>
            <a:ext cx="330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A0A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示例项目数</a:t>
            </a:r>
            <a:endParaRPr lang="en-US" sz="2600" dirty="0"/>
          </a:p>
        </p:txBody>
      </p:sp>
      <p:sp>
        <p:nvSpPr>
          <p:cNvPr id="10" name="editable-text-27"/>
          <p:cNvSpPr/>
          <p:nvPr/>
        </p:nvSpPr>
        <p:spPr>
          <a:xfrm>
            <a:off x="4445000" y="4526280"/>
            <a:ext cx="330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6461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用于验证中文标签</a:t>
            </a:r>
            <a:endParaRPr lang="en-US" sz="1900" dirty="0"/>
          </a:p>
        </p:txBody>
      </p:sp>
      <p:sp>
        <p:nvSpPr>
          <p:cNvPr id="11" name="editable-text-28"/>
          <p:cNvSpPr/>
          <p:nvPr/>
        </p:nvSpPr>
        <p:spPr>
          <a:xfrm>
            <a:off x="8249920" y="2286000"/>
            <a:ext cx="330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0A0A0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4.6</a:t>
            </a:r>
            <a:endParaRPr lang="en-US" sz="6400" dirty="0"/>
          </a:p>
        </p:txBody>
      </p:sp>
      <p:sp>
        <p:nvSpPr>
          <p:cNvPr id="12" name="editable-text-29"/>
          <p:cNvSpPr/>
          <p:nvPr/>
        </p:nvSpPr>
        <p:spPr>
          <a:xfrm>
            <a:off x="8249920" y="3630168"/>
            <a:ext cx="330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A0A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示例评分</a:t>
            </a:r>
            <a:endParaRPr lang="en-US" sz="2600" dirty="0"/>
          </a:p>
        </p:txBody>
      </p:sp>
      <p:sp>
        <p:nvSpPr>
          <p:cNvPr id="13" name="editable-text-30"/>
          <p:cNvSpPr/>
          <p:nvPr/>
        </p:nvSpPr>
        <p:spPr>
          <a:xfrm>
            <a:off x="8249920" y="4526280"/>
            <a:ext cx="330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6461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满分为 5 分</a:t>
            </a:r>
            <a:endParaRPr lang="en-US" sz="1900" dirty="0"/>
          </a:p>
        </p:txBody>
      </p:sp>
      <p:sp>
        <p:nvSpPr>
          <p:cNvPr id="14" name="editable-text-31"/>
          <p:cNvSpPr/>
          <p:nvPr/>
        </p:nvSpPr>
        <p:spPr>
          <a:xfrm>
            <a:off x="640080" y="6419088"/>
            <a:ext cx="995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61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演示数据，仅用于功能测试</a:t>
            </a:r>
            <a:endParaRPr lang="en-US" sz="900" dirty="0"/>
          </a:p>
        </p:txBody>
      </p:sp>
      <p:sp>
        <p:nvSpPr>
          <p:cNvPr id="15" name="editable-text-32"/>
          <p:cNvSpPr/>
          <p:nvPr/>
        </p:nvSpPr>
        <p:spPr>
          <a:xfrm>
            <a:off x="10820400" y="641908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61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-text-33"/>
          <p:cNvSpPr/>
          <p:nvPr/>
        </p:nvSpPr>
        <p:spPr>
          <a:xfrm>
            <a:off x="640080" y="512064"/>
            <a:ext cx="1091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0A0A0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两种工作方式</a:t>
            </a:r>
            <a:endParaRPr lang="en-US" sz="3400" dirty="0"/>
          </a:p>
        </p:txBody>
      </p:sp>
      <p:sp>
        <p:nvSpPr>
          <p:cNvPr id="3" name="editable-rule-34"/>
          <p:cNvSpPr/>
          <p:nvPr/>
        </p:nvSpPr>
        <p:spPr>
          <a:xfrm>
            <a:off x="640080" y="1819656"/>
            <a:ext cx="10911840" cy="0"/>
          </a:xfrm>
          <a:prstGeom prst="line">
            <a:avLst/>
          </a:prstGeom>
          <a:noFill/>
          <a:ln w="8890">
            <a:solidFill>
              <a:srgbClr val="E8E5DE"/>
            </a:solidFill>
            <a:prstDash val="solid"/>
          </a:ln>
        </p:spPr>
      </p:sp>
      <p:sp>
        <p:nvSpPr>
          <p:cNvPr id="4" name="editable-text-35"/>
          <p:cNvSpPr/>
          <p:nvPr/>
        </p:nvSpPr>
        <p:spPr>
          <a:xfrm>
            <a:off x="640080" y="2029968"/>
            <a:ext cx="513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原网页版本</a:t>
            </a:r>
            <a:endParaRPr lang="en-US" sz="2800" dirty="0"/>
          </a:p>
        </p:txBody>
      </p:sp>
      <p:sp>
        <p:nvSpPr>
          <p:cNvPr id="5" name="editable-rule-36"/>
          <p:cNvSpPr/>
          <p:nvPr/>
        </p:nvSpPr>
        <p:spPr>
          <a:xfrm>
            <a:off x="640080" y="2743200"/>
            <a:ext cx="5135880" cy="0"/>
          </a:xfrm>
          <a:prstGeom prst="line">
            <a:avLst/>
          </a:prstGeom>
          <a:noFill/>
          <a:ln w="8890">
            <a:solidFill>
              <a:srgbClr val="E8E5DE"/>
            </a:solidFill>
            <a:prstDash val="solid"/>
          </a:ln>
        </p:spPr>
      </p:sp>
      <p:sp>
        <p:nvSpPr>
          <p:cNvPr id="6" name="editable-shape-37"/>
          <p:cNvSpPr/>
          <p:nvPr/>
        </p:nvSpPr>
        <p:spPr>
          <a:xfrm>
            <a:off x="640080" y="3145536"/>
            <a:ext cx="68580" cy="68580"/>
          </a:xfrm>
          <a:prstGeom prst="rect">
            <a:avLst/>
          </a:prstGeom>
          <a:solidFill>
            <a:srgbClr val="0A0A0B"/>
          </a:solidFill>
          <a:ln w="12700">
            <a:solidFill>
              <a:srgbClr val="0A0A0B"/>
            </a:solidFill>
            <a:prstDash val="solid"/>
          </a:ln>
        </p:spPr>
      </p:sp>
      <p:sp>
        <p:nvSpPr>
          <p:cNvPr id="7" name="editable-text-38"/>
          <p:cNvSpPr/>
          <p:nvPr/>
        </p:nvSpPr>
        <p:spPr>
          <a:xfrm>
            <a:off x="896112" y="3017520"/>
            <a:ext cx="4879848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A0A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浏览器直接演示</a:t>
            </a:r>
            <a:endParaRPr lang="en-US" sz="2500" dirty="0"/>
          </a:p>
        </p:txBody>
      </p:sp>
      <p:sp>
        <p:nvSpPr>
          <p:cNvPr id="8" name="editable-shape-39"/>
          <p:cNvSpPr/>
          <p:nvPr/>
        </p:nvSpPr>
        <p:spPr>
          <a:xfrm>
            <a:off x="640080" y="4120896"/>
            <a:ext cx="68580" cy="68580"/>
          </a:xfrm>
          <a:prstGeom prst="rect">
            <a:avLst/>
          </a:prstGeom>
          <a:solidFill>
            <a:srgbClr val="0A0A0B"/>
          </a:solidFill>
          <a:ln w="12700">
            <a:solidFill>
              <a:srgbClr val="0A0A0B"/>
            </a:solidFill>
            <a:prstDash val="solid"/>
          </a:ln>
        </p:spPr>
      </p:sp>
      <p:sp>
        <p:nvSpPr>
          <p:cNvPr id="9" name="editable-text-40"/>
          <p:cNvSpPr/>
          <p:nvPr/>
        </p:nvSpPr>
        <p:spPr>
          <a:xfrm>
            <a:off x="896112" y="3992880"/>
            <a:ext cx="4879848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A0A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 HTML 和 CSS 排版</a:t>
            </a:r>
            <a:endParaRPr lang="en-US" sz="2500" dirty="0"/>
          </a:p>
        </p:txBody>
      </p:sp>
      <p:sp>
        <p:nvSpPr>
          <p:cNvPr id="10" name="editable-shape-41"/>
          <p:cNvSpPr/>
          <p:nvPr/>
        </p:nvSpPr>
        <p:spPr>
          <a:xfrm>
            <a:off x="640080" y="5096256"/>
            <a:ext cx="68580" cy="68580"/>
          </a:xfrm>
          <a:prstGeom prst="rect">
            <a:avLst/>
          </a:prstGeom>
          <a:solidFill>
            <a:srgbClr val="0A0A0B"/>
          </a:solidFill>
          <a:ln w="12700">
            <a:solidFill>
              <a:srgbClr val="0A0A0B"/>
            </a:solidFill>
            <a:prstDash val="solid"/>
          </a:ln>
        </p:spPr>
      </p:sp>
      <p:sp>
        <p:nvSpPr>
          <p:cNvPr id="11" name="editable-text-42"/>
          <p:cNvSpPr/>
          <p:nvPr/>
        </p:nvSpPr>
        <p:spPr>
          <a:xfrm>
            <a:off x="896112" y="4968240"/>
            <a:ext cx="4879848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A0A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通过网页脚本执行交互</a:t>
            </a:r>
            <a:endParaRPr lang="en-US" sz="2500" dirty="0"/>
          </a:p>
        </p:txBody>
      </p:sp>
      <p:sp>
        <p:nvSpPr>
          <p:cNvPr id="12" name="editable-text-43"/>
          <p:cNvSpPr/>
          <p:nvPr/>
        </p:nvSpPr>
        <p:spPr>
          <a:xfrm>
            <a:off x="6416040" y="2029968"/>
            <a:ext cx="513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PPTX 转换版本</a:t>
            </a:r>
            <a:endParaRPr lang="en-US" sz="2800" dirty="0"/>
          </a:p>
        </p:txBody>
      </p:sp>
      <p:sp>
        <p:nvSpPr>
          <p:cNvPr id="13" name="editable-rule-44"/>
          <p:cNvSpPr/>
          <p:nvPr/>
        </p:nvSpPr>
        <p:spPr>
          <a:xfrm>
            <a:off x="6416040" y="2743200"/>
            <a:ext cx="5135880" cy="0"/>
          </a:xfrm>
          <a:prstGeom prst="line">
            <a:avLst/>
          </a:prstGeom>
          <a:noFill/>
          <a:ln w="8890">
            <a:solidFill>
              <a:srgbClr val="E8E5DE"/>
            </a:solidFill>
            <a:prstDash val="solid"/>
          </a:ln>
        </p:spPr>
      </p:sp>
      <p:sp>
        <p:nvSpPr>
          <p:cNvPr id="14" name="editable-shape-45"/>
          <p:cNvSpPr/>
          <p:nvPr/>
        </p:nvSpPr>
        <p:spPr>
          <a:xfrm>
            <a:off x="6416040" y="3145536"/>
            <a:ext cx="68580" cy="68580"/>
          </a:xfrm>
          <a:prstGeom prst="rect">
            <a:avLst/>
          </a:prstGeom>
          <a:solidFill>
            <a:srgbClr val="0A0A0B"/>
          </a:solidFill>
          <a:ln w="12700">
            <a:solidFill>
              <a:srgbClr val="0A0A0B"/>
            </a:solidFill>
            <a:prstDash val="solid"/>
          </a:ln>
        </p:spPr>
      </p:sp>
      <p:sp>
        <p:nvSpPr>
          <p:cNvPr id="15" name="editable-text-46"/>
          <p:cNvSpPr/>
          <p:nvPr/>
        </p:nvSpPr>
        <p:spPr>
          <a:xfrm>
            <a:off x="6672072" y="3017520"/>
            <a:ext cx="4879848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A0A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 PowerPoint 演示</a:t>
            </a:r>
            <a:endParaRPr lang="en-US" sz="2500" dirty="0"/>
          </a:p>
        </p:txBody>
      </p:sp>
      <p:sp>
        <p:nvSpPr>
          <p:cNvPr id="16" name="editable-shape-47"/>
          <p:cNvSpPr/>
          <p:nvPr/>
        </p:nvSpPr>
        <p:spPr>
          <a:xfrm>
            <a:off x="6416040" y="4120896"/>
            <a:ext cx="68580" cy="68580"/>
          </a:xfrm>
          <a:prstGeom prst="rect">
            <a:avLst/>
          </a:prstGeom>
          <a:solidFill>
            <a:srgbClr val="0A0A0B"/>
          </a:solidFill>
          <a:ln w="12700">
            <a:solidFill>
              <a:srgbClr val="0A0A0B"/>
            </a:solidFill>
            <a:prstDash val="solid"/>
          </a:ln>
        </p:spPr>
      </p:sp>
      <p:sp>
        <p:nvSpPr>
          <p:cNvPr id="17" name="editable-text-48"/>
          <p:cNvSpPr/>
          <p:nvPr/>
        </p:nvSpPr>
        <p:spPr>
          <a:xfrm>
            <a:off x="6672072" y="3992880"/>
            <a:ext cx="4879848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A0A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原生文字、图形和图表</a:t>
            </a:r>
            <a:endParaRPr lang="en-US" sz="2500" dirty="0"/>
          </a:p>
        </p:txBody>
      </p:sp>
      <p:sp>
        <p:nvSpPr>
          <p:cNvPr id="18" name="editable-shape-49"/>
          <p:cNvSpPr/>
          <p:nvPr/>
        </p:nvSpPr>
        <p:spPr>
          <a:xfrm>
            <a:off x="6416040" y="5096256"/>
            <a:ext cx="68580" cy="68580"/>
          </a:xfrm>
          <a:prstGeom prst="rect">
            <a:avLst/>
          </a:prstGeom>
          <a:solidFill>
            <a:srgbClr val="0A0A0B"/>
          </a:solidFill>
          <a:ln w="12700">
            <a:solidFill>
              <a:srgbClr val="0A0A0B"/>
            </a:solidFill>
            <a:prstDash val="solid"/>
          </a:ln>
        </p:spPr>
      </p:sp>
      <p:sp>
        <p:nvSpPr>
          <p:cNvPr id="19" name="editable-text-50"/>
          <p:cNvSpPr/>
          <p:nvPr/>
        </p:nvSpPr>
        <p:spPr>
          <a:xfrm>
            <a:off x="6672072" y="4968240"/>
            <a:ext cx="4879848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A0A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点击推进原生动画</a:t>
            </a:r>
            <a:endParaRPr lang="en-US" sz="2500" dirty="0"/>
          </a:p>
        </p:txBody>
      </p:sp>
      <p:sp>
        <p:nvSpPr>
          <p:cNvPr id="20" name="editable-text-51"/>
          <p:cNvSpPr/>
          <p:nvPr/>
        </p:nvSpPr>
        <p:spPr>
          <a:xfrm>
            <a:off x="640080" y="6419088"/>
            <a:ext cx="995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61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演示数据，仅用于功能测试</a:t>
            </a:r>
            <a:endParaRPr lang="en-US" sz="900" dirty="0"/>
          </a:p>
        </p:txBody>
      </p:sp>
      <p:sp>
        <p:nvSpPr>
          <p:cNvPr id="21" name="editable-text-52"/>
          <p:cNvSpPr/>
          <p:nvPr/>
        </p:nvSpPr>
        <p:spPr>
          <a:xfrm>
            <a:off x="10820400" y="641908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61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-text-53"/>
          <p:cNvSpPr/>
          <p:nvPr/>
        </p:nvSpPr>
        <p:spPr>
          <a:xfrm>
            <a:off x="640080" y="512064"/>
            <a:ext cx="1091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0A0A0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演示文稿制作流程</a:t>
            </a:r>
            <a:endParaRPr lang="en-US" sz="3400" dirty="0"/>
          </a:p>
        </p:txBody>
      </p:sp>
      <p:sp>
        <p:nvSpPr>
          <p:cNvPr id="3" name="editable-rule-54"/>
          <p:cNvSpPr/>
          <p:nvPr/>
        </p:nvSpPr>
        <p:spPr>
          <a:xfrm>
            <a:off x="640080" y="1819656"/>
            <a:ext cx="10911840" cy="0"/>
          </a:xfrm>
          <a:prstGeom prst="line">
            <a:avLst/>
          </a:prstGeom>
          <a:noFill/>
          <a:ln w="8890">
            <a:solidFill>
              <a:srgbClr val="E8E5DE"/>
            </a:solidFill>
            <a:prstDash val="solid"/>
          </a:ln>
        </p:spPr>
      </p:sp>
      <p:sp>
        <p:nvSpPr>
          <p:cNvPr id="4" name="editable-text-55"/>
          <p:cNvSpPr/>
          <p:nvPr/>
        </p:nvSpPr>
        <p:spPr>
          <a:xfrm>
            <a:off x="640080" y="2029968"/>
            <a:ext cx="3344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A0A0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editable-rule-56"/>
          <p:cNvSpPr/>
          <p:nvPr/>
        </p:nvSpPr>
        <p:spPr>
          <a:xfrm>
            <a:off x="640080" y="2852928"/>
            <a:ext cx="3344672" cy="0"/>
          </a:xfrm>
          <a:prstGeom prst="line">
            <a:avLst/>
          </a:prstGeom>
          <a:noFill/>
          <a:ln w="8890">
            <a:solidFill>
              <a:srgbClr val="0A0A0B"/>
            </a:solidFill>
            <a:prstDash val="solid"/>
          </a:ln>
        </p:spPr>
      </p:sp>
      <p:sp>
        <p:nvSpPr>
          <p:cNvPr id="6" name="editable-text-57"/>
          <p:cNvSpPr/>
          <p:nvPr/>
        </p:nvSpPr>
        <p:spPr>
          <a:xfrm>
            <a:off x="640080" y="3081528"/>
            <a:ext cx="3344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0A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整理素材</a:t>
            </a:r>
            <a:endParaRPr lang="en-US" sz="2600" dirty="0"/>
          </a:p>
        </p:txBody>
      </p:sp>
      <p:sp>
        <p:nvSpPr>
          <p:cNvPr id="7" name="editable-text-58"/>
          <p:cNvSpPr/>
          <p:nvPr/>
        </p:nvSpPr>
        <p:spPr>
          <a:xfrm>
            <a:off x="640080" y="4133088"/>
            <a:ext cx="33446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A0A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保留原始数据与来源。</a:t>
            </a:r>
            <a:endParaRPr lang="en-US" sz="2000" dirty="0"/>
          </a:p>
        </p:txBody>
      </p:sp>
      <p:sp>
        <p:nvSpPr>
          <p:cNvPr id="8" name="editable-process-arrow-59"/>
          <p:cNvSpPr/>
          <p:nvPr/>
        </p:nvSpPr>
        <p:spPr>
          <a:xfrm>
            <a:off x="4103624" y="3172968"/>
            <a:ext cx="201168" cy="274320"/>
          </a:xfrm>
          <a:prstGeom prst="chevron">
            <a:avLst/>
          </a:prstGeom>
          <a:solidFill>
            <a:srgbClr val="0A0A0B"/>
          </a:solidFill>
          <a:ln w="12700">
            <a:solidFill>
              <a:srgbClr val="0A0A0B"/>
            </a:solidFill>
            <a:prstDash val="solid"/>
          </a:ln>
        </p:spPr>
      </p:sp>
      <p:sp>
        <p:nvSpPr>
          <p:cNvPr id="9" name="editable-text-60"/>
          <p:cNvSpPr/>
          <p:nvPr/>
        </p:nvSpPr>
        <p:spPr>
          <a:xfrm>
            <a:off x="4423664" y="2029968"/>
            <a:ext cx="3344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A0A0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editable-rule-61"/>
          <p:cNvSpPr/>
          <p:nvPr/>
        </p:nvSpPr>
        <p:spPr>
          <a:xfrm>
            <a:off x="4423664" y="2852928"/>
            <a:ext cx="3344672" cy="0"/>
          </a:xfrm>
          <a:prstGeom prst="line">
            <a:avLst/>
          </a:prstGeom>
          <a:noFill/>
          <a:ln w="8890">
            <a:solidFill>
              <a:srgbClr val="0A0A0B"/>
            </a:solidFill>
            <a:prstDash val="solid"/>
          </a:ln>
        </p:spPr>
      </p:sp>
      <p:sp>
        <p:nvSpPr>
          <p:cNvPr id="11" name="editable-text-62"/>
          <p:cNvSpPr/>
          <p:nvPr/>
        </p:nvSpPr>
        <p:spPr>
          <a:xfrm>
            <a:off x="4423664" y="3081528"/>
            <a:ext cx="3344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0A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选择风格</a:t>
            </a:r>
            <a:endParaRPr lang="en-US" sz="2600" dirty="0"/>
          </a:p>
        </p:txBody>
      </p:sp>
      <p:sp>
        <p:nvSpPr>
          <p:cNvPr id="12" name="editable-text-63"/>
          <p:cNvSpPr/>
          <p:nvPr/>
        </p:nvSpPr>
        <p:spPr>
          <a:xfrm>
            <a:off x="4423664" y="4133088"/>
            <a:ext cx="33446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A0A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整份演示采用同一视觉系统。</a:t>
            </a:r>
            <a:endParaRPr lang="en-US" sz="2000" dirty="0"/>
          </a:p>
        </p:txBody>
      </p:sp>
      <p:sp>
        <p:nvSpPr>
          <p:cNvPr id="13" name="editable-process-arrow-64"/>
          <p:cNvSpPr/>
          <p:nvPr/>
        </p:nvSpPr>
        <p:spPr>
          <a:xfrm>
            <a:off x="7887208" y="3172968"/>
            <a:ext cx="201168" cy="274320"/>
          </a:xfrm>
          <a:prstGeom prst="chevron">
            <a:avLst/>
          </a:prstGeom>
          <a:solidFill>
            <a:srgbClr val="0A0A0B"/>
          </a:solidFill>
          <a:ln w="12700">
            <a:solidFill>
              <a:srgbClr val="0A0A0B"/>
            </a:solidFill>
            <a:prstDash val="solid"/>
          </a:ln>
        </p:spPr>
      </p:sp>
      <p:sp>
        <p:nvSpPr>
          <p:cNvPr id="14" name="editable-text-65"/>
          <p:cNvSpPr/>
          <p:nvPr/>
        </p:nvSpPr>
        <p:spPr>
          <a:xfrm>
            <a:off x="8207248" y="2029968"/>
            <a:ext cx="3344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A0A0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editable-rule-66"/>
          <p:cNvSpPr/>
          <p:nvPr/>
        </p:nvSpPr>
        <p:spPr>
          <a:xfrm>
            <a:off x="8207248" y="2852928"/>
            <a:ext cx="3344672" cy="0"/>
          </a:xfrm>
          <a:prstGeom prst="line">
            <a:avLst/>
          </a:prstGeom>
          <a:noFill/>
          <a:ln w="8890">
            <a:solidFill>
              <a:srgbClr val="0A0A0B"/>
            </a:solidFill>
            <a:prstDash val="solid"/>
          </a:ln>
        </p:spPr>
      </p:sp>
      <p:sp>
        <p:nvSpPr>
          <p:cNvPr id="16" name="editable-text-67"/>
          <p:cNvSpPr/>
          <p:nvPr/>
        </p:nvSpPr>
        <p:spPr>
          <a:xfrm>
            <a:off x="8207248" y="3081528"/>
            <a:ext cx="3344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0A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检查交付</a:t>
            </a:r>
            <a:endParaRPr lang="en-US" sz="2600" dirty="0"/>
          </a:p>
        </p:txBody>
      </p:sp>
      <p:sp>
        <p:nvSpPr>
          <p:cNvPr id="17" name="editable-text-68"/>
          <p:cNvSpPr/>
          <p:nvPr/>
        </p:nvSpPr>
        <p:spPr>
          <a:xfrm>
            <a:off x="8207248" y="4133088"/>
            <a:ext cx="33446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A0A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检查排版、编辑能力和动画。</a:t>
            </a:r>
            <a:endParaRPr lang="en-US" sz="2000" dirty="0"/>
          </a:p>
        </p:txBody>
      </p:sp>
      <p:sp>
        <p:nvSpPr>
          <p:cNvPr id="18" name="editable-text-69"/>
          <p:cNvSpPr/>
          <p:nvPr/>
        </p:nvSpPr>
        <p:spPr>
          <a:xfrm>
            <a:off x="640080" y="6419088"/>
            <a:ext cx="995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61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演示数据，仅用于功能测试</a:t>
            </a:r>
            <a:endParaRPr lang="en-US" sz="900" dirty="0"/>
          </a:p>
        </p:txBody>
      </p:sp>
      <p:sp>
        <p:nvSpPr>
          <p:cNvPr id="19" name="editable-text-70"/>
          <p:cNvSpPr/>
          <p:nvPr/>
        </p:nvSpPr>
        <p:spPr>
          <a:xfrm>
            <a:off x="10820400" y="641908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61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-text-71"/>
          <p:cNvSpPr/>
          <p:nvPr/>
        </p:nvSpPr>
        <p:spPr>
          <a:xfrm>
            <a:off x="640080" y="512064"/>
            <a:ext cx="1091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0A0A0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季度示例数据</a:t>
            </a:r>
            <a:endParaRPr lang="en-US" sz="3400" dirty="0"/>
          </a:p>
        </p:txBody>
      </p:sp>
      <p:sp>
        <p:nvSpPr>
          <p:cNvPr id="3" name="editable-text-72"/>
          <p:cNvSpPr/>
          <p:nvPr/>
        </p:nvSpPr>
        <p:spPr>
          <a:xfrm>
            <a:off x="640080" y="1307592"/>
            <a:ext cx="10911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461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虚构测试数据，不代表实际业务表现</a:t>
            </a:r>
            <a:endParaRPr lang="en-US" sz="1600" dirty="0"/>
          </a:p>
        </p:txBody>
      </p:sp>
      <p:sp>
        <p:nvSpPr>
          <p:cNvPr id="4" name="editable-rule-73"/>
          <p:cNvSpPr/>
          <p:nvPr/>
        </p:nvSpPr>
        <p:spPr>
          <a:xfrm>
            <a:off x="640080" y="1819656"/>
            <a:ext cx="10911840" cy="0"/>
          </a:xfrm>
          <a:prstGeom prst="line">
            <a:avLst/>
          </a:prstGeom>
          <a:noFill/>
          <a:ln w="8890">
            <a:solidFill>
              <a:srgbClr val="E8E5DE"/>
            </a:solidFill>
            <a:prstDash val="solid"/>
          </a:ln>
        </p:spPr>
      </p:sp>
      <p:sp>
        <p:nvSpPr>
          <p:cNvPr id="5" name="editable-text-74"/>
          <p:cNvSpPr/>
          <p:nvPr/>
        </p:nvSpPr>
        <p:spPr>
          <a:xfrm>
            <a:off x="640080" y="2029968"/>
            <a:ext cx="1091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61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单位：项</a:t>
            </a:r>
            <a:endParaRPr lang="en-US" sz="1300" dirty="0"/>
          </a:p>
        </p:txBody>
      </p:sp>
      <p:graphicFrame>
        <p:nvGraphicFramePr>
          <p:cNvPr id="6" name="editable-chart-75" descr=""/>
          <p:cNvGraphicFramePr/>
          <p:nvPr/>
        </p:nvGraphicFramePr>
        <p:xfrm>
          <a:off x="640080" y="2468880"/>
          <a:ext cx="109118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editable-text-76"/>
          <p:cNvSpPr/>
          <p:nvPr/>
        </p:nvSpPr>
        <p:spPr>
          <a:xfrm>
            <a:off x="640080" y="6419088"/>
            <a:ext cx="995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61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演示数据，仅用于功能测试</a:t>
            </a:r>
            <a:endParaRPr lang="en-US" sz="900" dirty="0"/>
          </a:p>
        </p:txBody>
      </p:sp>
      <p:sp>
        <p:nvSpPr>
          <p:cNvPr id="8" name="editable-text-77"/>
          <p:cNvSpPr/>
          <p:nvPr/>
        </p:nvSpPr>
        <p:spPr>
          <a:xfrm>
            <a:off x="10820400" y="641908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61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-text-78"/>
          <p:cNvSpPr/>
          <p:nvPr/>
        </p:nvSpPr>
        <p:spPr>
          <a:xfrm>
            <a:off x="640080" y="512064"/>
            <a:ext cx="1091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0A0A0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可编辑对象对照</a:t>
            </a:r>
            <a:endParaRPr lang="en-US" sz="3400" dirty="0"/>
          </a:p>
        </p:txBody>
      </p:sp>
      <p:sp>
        <p:nvSpPr>
          <p:cNvPr id="3" name="editable-rule-79"/>
          <p:cNvSpPr/>
          <p:nvPr/>
        </p:nvSpPr>
        <p:spPr>
          <a:xfrm>
            <a:off x="640080" y="1819656"/>
            <a:ext cx="10911840" cy="0"/>
          </a:xfrm>
          <a:prstGeom prst="line">
            <a:avLst/>
          </a:prstGeom>
          <a:noFill/>
          <a:ln w="8890">
            <a:solidFill>
              <a:srgbClr val="E8E5DE"/>
            </a:solidFill>
            <a:prstDash val="solid"/>
          </a:ln>
        </p:spPr>
      </p:sp>
      <p:graphicFrame>
        <p:nvGraphicFramePr>
          <p:cNvPr id="8" name="editable-table-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29968"/>
          <a:ext cx="10911840" cy="3017520"/>
        </p:xfrm>
        <a:graphic>
          <a:graphicData uri="http://schemas.openxmlformats.org/drawingml/2006/table">
            <a:tbl>
              <a:tblPr/>
              <a:tblGrid>
                <a:gridCol w="3117668"/>
                <a:gridCol w="3117668"/>
                <a:gridCol w="4676503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1EFE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内容类型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1EFE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输出对象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1EFE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修改方式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A0A0B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标题与正文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A0A0B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原生文本框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A0A0B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直接修改文字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A0A0B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数据图表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A0A0B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原生图表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A0A0B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编辑图表数据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A0A0B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表格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A0A0B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原生表格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A0A0B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直接修改单元格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A0A0B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照片与截图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A0A0B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图片对象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A0A0B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替换或裁剪图片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8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</a:tr>
            </a:tbl>
          </a:graphicData>
        </a:graphic>
      </p:graphicFrame>
      <p:sp>
        <p:nvSpPr>
          <p:cNvPr id="5" name="editable-text-81"/>
          <p:cNvSpPr/>
          <p:nvPr/>
        </p:nvSpPr>
        <p:spPr>
          <a:xfrm>
            <a:off x="640080" y="6419088"/>
            <a:ext cx="995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61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演示数据，仅用于功能测试</a:t>
            </a:r>
            <a:endParaRPr lang="en-US" sz="900" dirty="0"/>
          </a:p>
        </p:txBody>
      </p:sp>
      <p:sp>
        <p:nvSpPr>
          <p:cNvPr id="6" name="editable-text-82"/>
          <p:cNvSpPr/>
          <p:nvPr/>
        </p:nvSpPr>
        <p:spPr>
          <a:xfrm>
            <a:off x="10820400" y="641908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61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-text-83"/>
          <p:cNvSpPr/>
          <p:nvPr/>
        </p:nvSpPr>
        <p:spPr>
          <a:xfrm>
            <a:off x="640080" y="1572768"/>
            <a:ext cx="1091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300" dirty="0">
                <a:solidFill>
                  <a:srgbClr val="F1EFE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开始你的下一份演示</a:t>
            </a:r>
            <a:endParaRPr lang="en-US" sz="5300" dirty="0"/>
          </a:p>
        </p:txBody>
      </p:sp>
      <p:sp>
        <p:nvSpPr>
          <p:cNvPr id="3" name="editable-text-84"/>
          <p:cNvSpPr/>
          <p:nvPr/>
        </p:nvSpPr>
        <p:spPr>
          <a:xfrm>
            <a:off x="640080" y="3867912"/>
            <a:ext cx="1045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1EF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替换 JSON 中的内容，再生成 PPTX。</a:t>
            </a:r>
            <a:endParaRPr lang="en-US" sz="2400" dirty="0"/>
          </a:p>
        </p:txBody>
      </p:sp>
      <p:sp>
        <p:nvSpPr>
          <p:cNvPr id="4" name="editable-text-85"/>
          <p:cNvSpPr/>
          <p:nvPr/>
        </p:nvSpPr>
        <p:spPr>
          <a:xfrm>
            <a:off x="640080" y="5632704"/>
            <a:ext cx="1091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1EF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示例结束</a:t>
            </a:r>
            <a:endParaRPr lang="en-US" sz="1600" dirty="0"/>
          </a:p>
        </p:txBody>
      </p:sp>
      <p:sp>
        <p:nvSpPr>
          <p:cNvPr id="5" name="editable-text-86"/>
          <p:cNvSpPr/>
          <p:nvPr/>
        </p:nvSpPr>
        <p:spPr>
          <a:xfrm>
            <a:off x="640080" y="6419088"/>
            <a:ext cx="995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EF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演示数据，仅用于功能测试</a:t>
            </a:r>
            <a:endParaRPr lang="en-US" sz="900" dirty="0"/>
          </a:p>
        </p:txBody>
      </p:sp>
      <p:sp>
        <p:nvSpPr>
          <p:cNvPr id="6" name="editable-text-87"/>
          <p:cNvSpPr/>
          <p:nvPr/>
        </p:nvSpPr>
        <p:spPr>
          <a:xfrm>
            <a:off x="10820400" y="641908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1EF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示例团队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可编辑演示文稿示例</dc:title>
  <dc:subject/>
  <dc:creator/>
  <cp:lastModifiedBy/>
  <cp:revision>1</cp:revision>
  <dcterms:created xsi:type="dcterms:W3CDTF">2026-10-29T12:35:37Z</dcterms:created>
  <dcterms:modified xsi:type="dcterms:W3CDTF">2026-10-29T12:35:37Z</dcterms:modified>
</cp:coreProperties>
</file>